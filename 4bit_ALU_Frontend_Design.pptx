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Power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468C4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Leakage</c:v>
                </c:pt>
                <c:pt idx="1">
                  <c:v>Internal</c:v>
                </c:pt>
                <c:pt idx="2">
                  <c:v>Switching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11.35</c:v>
                </c:pt>
                <c:pt idx="1">
                  <c:v>56.59</c:v>
                </c:pt>
                <c:pt idx="2">
                  <c:v>32.06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4-bit ALU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  •  Functional Verification  •  Logic Synthesis  •  Formal Equivalence Checking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160520"/>
            <a:ext cx="1572768" cy="402336"/>
          </a:xfrm>
          <a:prstGeom prst="roundRect">
            <a:avLst>
              <a:gd name="adj" fmla="val 18182"/>
            </a:avLst>
          </a:prstGeom>
          <a:solidFill>
            <a:srgbClr val="2A3480"/>
          </a:solidFill>
          <a:ln w="12700">
            <a:solidFill>
              <a:srgbClr val="3E4A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16052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Xcelium (irun)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58568" y="4160520"/>
            <a:ext cx="1092708" cy="402336"/>
          </a:xfrm>
          <a:prstGeom prst="roundRect">
            <a:avLst>
              <a:gd name="adj" fmla="val 18182"/>
            </a:avLst>
          </a:prstGeom>
          <a:solidFill>
            <a:srgbClr val="2A3480"/>
          </a:solidFill>
          <a:ln w="12700">
            <a:solidFill>
              <a:srgbClr val="3E4A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8568" y="4160520"/>
            <a:ext cx="1092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SimVision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34156" y="4160520"/>
            <a:ext cx="516636" cy="402336"/>
          </a:xfrm>
          <a:prstGeom prst="roundRect">
            <a:avLst>
              <a:gd name="adj" fmla="val 18182"/>
            </a:avLst>
          </a:prstGeom>
          <a:solidFill>
            <a:srgbClr val="2A3480"/>
          </a:solidFill>
          <a:ln w="12700">
            <a:solidFill>
              <a:srgbClr val="3E4A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4156" y="4160520"/>
            <a:ext cx="5166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33672" y="4160520"/>
            <a:ext cx="708660" cy="402336"/>
          </a:xfrm>
          <a:prstGeom prst="roundRect">
            <a:avLst>
              <a:gd name="adj" fmla="val 18182"/>
            </a:avLst>
          </a:prstGeom>
          <a:solidFill>
            <a:srgbClr val="2A3480"/>
          </a:solidFill>
          <a:ln w="12700">
            <a:solidFill>
              <a:srgbClr val="3E4A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33672" y="4160520"/>
            <a:ext cx="7086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5212" y="4160520"/>
            <a:ext cx="1476756" cy="402336"/>
          </a:xfrm>
          <a:prstGeom prst="roundRect">
            <a:avLst>
              <a:gd name="adj" fmla="val 18182"/>
            </a:avLst>
          </a:prstGeom>
          <a:solidFill>
            <a:srgbClr val="2A3480"/>
          </a:solidFill>
          <a:ln w="12700">
            <a:solidFill>
              <a:srgbClr val="3E4A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5212" y="4160520"/>
            <a:ext cx="1476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LEC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Pratheep 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EDA Flow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ALU Does, and How It Was Proven Correct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54533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  </a:t>
            </a:r>
            <a:pPr indent="0" marL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ALU with 3-bit opcode selecting 8 operations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232257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Verification  </a:t>
            </a:r>
            <a:pPr indent="0" marL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testbench simulated in Xcelium (irun)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0998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Sign-off  </a:t>
            </a:r>
            <a:pPr indent="0" marL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expression and toggle coverage measured in IMC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38770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Synthesis  </a:t>
            </a:r>
            <a:pPr indent="0" marL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a 90nm standard-cell library using Genus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47091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465429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 </a:t>
            </a:r>
            <a:pPr indent="0" marL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vs. netlist equivalence proven with Conformal LEC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37960" y="155448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4F6FC"/>
          </a:solidFill>
          <a:ln w="12700">
            <a:solidFill>
              <a:srgbClr val="D8DD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OPERATIONS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12280" y="214884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49440" y="2240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6243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08592" y="214884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445752" y="2240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445752" y="26243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001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315468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94944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6301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010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08592" y="315468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445752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445752" y="36301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011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416052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949440" y="4251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4636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100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308592" y="416052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445752" y="4251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445752" y="4636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101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12280" y="516636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949440" y="5257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SHL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6949440" y="5641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110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308592" y="516636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9445752" y="5257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9445752" y="5641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111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 Block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0" y="21031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93192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alu_4bit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always_comb + case(opcode)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2532888"/>
            <a:ext cx="10515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46304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[3:0]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80360" y="3218688"/>
            <a:ext cx="10515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46304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[3:0]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3904488"/>
            <a:ext cx="10515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46304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 [2:0]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2532888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680960" y="2423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[3:0]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218688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680960" y="3108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carry_out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3904488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680960" y="3794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21031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 w="12700">
            <a:solidFill>
              <a:srgbClr val="D8DD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651760"/>
            <a:ext cx="2331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combinational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carry_out on ADD/SUB/shift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asserted when result = 0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alu_4bit.sv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RTL to Signed-off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2418588" cy="2468880"/>
          </a:xfrm>
          <a:prstGeom prst="roundRect">
            <a:avLst>
              <a:gd name="adj" fmla="val 3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359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205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74720"/>
            <a:ext cx="20528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self-checking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task-based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1508" y="3429000"/>
            <a:ext cx="5029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4428" y="2194560"/>
            <a:ext cx="2418588" cy="2468880"/>
          </a:xfrm>
          <a:prstGeom prst="roundRect">
            <a:avLst>
              <a:gd name="adj" fmla="val 3025"/>
            </a:avLst>
          </a:prstGeom>
          <a:solidFill>
            <a:srgbClr val="2A3480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07308" y="2359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07308" y="3063240"/>
            <a:ext cx="205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07308" y="3474720"/>
            <a:ext cx="20528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Xcelium (irun)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-access +rwc -gui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43016" y="3429000"/>
            <a:ext cx="5029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45936" y="2194560"/>
            <a:ext cx="2418588" cy="2468880"/>
          </a:xfrm>
          <a:prstGeom prst="roundRect">
            <a:avLst>
              <a:gd name="adj" fmla="val 3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28816" y="2359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3063240"/>
            <a:ext cx="205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3474720"/>
            <a:ext cx="20528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SimVision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inspection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64524" y="3429000"/>
            <a:ext cx="5029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67444" y="2194560"/>
            <a:ext cx="2418588" cy="2468880"/>
          </a:xfrm>
          <a:prstGeom prst="roundRect">
            <a:avLst>
              <a:gd name="adj" fmla="val 3025"/>
            </a:avLst>
          </a:prstGeom>
          <a:solidFill>
            <a:srgbClr val="2A3480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450324" y="2359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450324" y="3063240"/>
            <a:ext cx="205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450324" y="3474720"/>
            <a:ext cx="20528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block / expr /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metrics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13 test vectors PASSED  •  0 mismatches (errors = 0)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Xcelium Console Output</a:t>
            </a:r>
            <a:endParaRPr lang="en-US" sz="3000" dirty="0"/>
          </a:p>
        </p:txBody>
      </p:sp>
      <p:pic>
        <p:nvPicPr>
          <p:cNvPr id="4" name="Image 0" descr="/home/claude/alu_ppt/sim_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178040" cy="403600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800100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PASSED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355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 ns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407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RUNTIME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01000" y="4937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AF7EE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5148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PASSED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SimVision Signal Trace</a:t>
            </a:r>
            <a:endParaRPr lang="en-US" sz="3000" dirty="0"/>
          </a:p>
        </p:txBody>
      </p:sp>
      <p:pic>
        <p:nvPicPr>
          <p:cNvPr id="4" name="Image 0" descr="/home/claude/alu_ppt/wave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8503920" cy="478151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326880" y="1691640"/>
            <a:ext cx="2377440" cy="4781513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 w="12700">
            <a:solidFill>
              <a:srgbClr val="D8DD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097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SHOWN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2240280"/>
            <a:ext cx="2011680" cy="4141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a[3:0], b[3:0] operands sweep across all 8 opcodes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result[3:0] bit-level breakdown alongside carry_out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= 0 confirms no mismatch at any timestep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 stays low — no zero-result vector in this window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IMC Coverage Sign-off</a:t>
            </a:r>
            <a:endParaRPr lang="en-US" sz="3000" dirty="0"/>
          </a:p>
        </p:txBody>
      </p:sp>
      <p:pic>
        <p:nvPicPr>
          <p:cNvPr id="4" name="Image 0" descr="/home/claude/alu_ppt/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537960" cy="367610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783080"/>
          <a:ext cx="4251960" cy="2194560"/>
        </p:xfrm>
        <a:graphic>
          <a:graphicData uri="http://schemas.openxmlformats.org/drawingml/2006/table">
            <a:tbl>
              <a:tblPr/>
              <a:tblGrid>
                <a:gridCol w="2651760"/>
                <a:gridCol w="1600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52360" y="4160520"/>
            <a:ext cx="4251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coverage at 100% shows every signal bit switched both directions; the lone gap is Expression coverage, expected for a case-based combinational block whose default branch is never driven.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Genus RTL-to-Gate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65049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1965960"/>
            <a:ext cx="1504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read_libs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90nm lib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53412" y="2651760"/>
            <a:ext cx="25603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09444" y="1965960"/>
            <a:ext cx="165049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2596" y="1965960"/>
            <a:ext cx="1504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read_hdl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alu_4bit.sv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9936" y="2651760"/>
            <a:ext cx="25603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15968" y="1965960"/>
            <a:ext cx="165049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965960"/>
            <a:ext cx="1504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elaborate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66460" y="2651760"/>
            <a:ext cx="25603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22492" y="1965960"/>
            <a:ext cx="165049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5644" y="1965960"/>
            <a:ext cx="1504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syn_generic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51760"/>
            <a:ext cx="25603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29016" y="1965960"/>
            <a:ext cx="165049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02168" y="1965960"/>
            <a:ext cx="1504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syn_map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79508" y="2651760"/>
            <a:ext cx="25603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35540" y="1965960"/>
            <a:ext cx="165049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08692" y="1965960"/>
            <a:ext cx="1504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syn_opt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94760"/>
            <a:ext cx="11183112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4023360"/>
            <a:ext cx="3727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709160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CELLS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230624" y="4023360"/>
            <a:ext cx="3727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4230624" y="4709160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958328" y="4023360"/>
            <a:ext cx="3727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7958328" y="4709160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PORTS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85216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Netlist written to alu_4bit_netlist.v — target: 90nm standard-cell library (slow.lib)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GATE-LEVEL NETLIST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Synthesized Schematic (Genus)</a:t>
            </a:r>
            <a:endParaRPr lang="en-US" sz="3000" dirty="0"/>
          </a:p>
        </p:txBody>
      </p:sp>
      <p:pic>
        <p:nvPicPr>
          <p:cNvPr id="4" name="Image 0" descr="/home/claude/alu_ppt/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8229600" cy="463221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006840" y="1645920"/>
            <a:ext cx="2194560" cy="4632219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12700">
            <a:solidFill>
              <a:srgbClr val="D8DD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8972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89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CELLS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1897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Area, Power &amp; Timing Reports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291.41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98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µm² total cell area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cells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6916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9768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148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898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µW total power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200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11% • int 57% • sw 32%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16916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86384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148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+6434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898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worst slack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200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MET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BREAKDOWN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02920" y="4251960"/>
          <a:ext cx="44805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669280" y="425196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opcode[0] → result logic → zero, 1566 ps data-path delay against a 10 ns virtual-clock budget — comfortable positive slack.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Logic Equivalence Checking</a:t>
            </a:r>
            <a:endParaRPr lang="en-US" sz="3000" dirty="0"/>
          </a:p>
        </p:txBody>
      </p:sp>
      <p:pic>
        <p:nvPicPr>
          <p:cNvPr id="4" name="Image 0" descr="/home/claude/alu_ppt/lec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172200" cy="34704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132320" y="1691640"/>
            <a:ext cx="4553712" cy="1188720"/>
          </a:xfrm>
          <a:prstGeom prst="roundRect">
            <a:avLst>
              <a:gd name="adj" fmla="val 6154"/>
            </a:avLst>
          </a:prstGeom>
          <a:solidFill>
            <a:srgbClr val="EAF7EE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0664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F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POINTS EQUIVALENT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3200400"/>
            <a:ext cx="4553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alu_4bit.sv (RTL) — 8 library cells, 14 primitives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alu_4bit_netlist.v — 54 synthesized cells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outputs: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result[3:0], carry_out, zero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5029200"/>
            <a:ext cx="4553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LEC checks equivalence exhaustively across all input combinations — a stronger guarantee than simulation coverage alone.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846320"/>
            <a:ext cx="3474720" cy="347472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Flow: Complete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01168" cy="201168"/>
          </a:xfrm>
          <a:prstGeom prst="ellipse">
            <a:avLst/>
          </a:prstGeom>
          <a:solidFill>
            <a:srgbClr val="2F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designed in SystemVerilog — 8 ALU operations, carry &amp; zero flags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96312"/>
            <a:ext cx="201168" cy="201168"/>
          </a:xfrm>
          <a:prstGeom prst="ellipse">
            <a:avLst/>
          </a:prstGeom>
          <a:solidFill>
            <a:srgbClr val="2FA6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377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Functionally verified in Xcelium — 13 / 13 test vectors passed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118104"/>
            <a:ext cx="201168" cy="201168"/>
          </a:xfrm>
          <a:prstGeom prst="ellipse">
            <a:avLst/>
          </a:prstGeom>
          <a:solidFill>
            <a:srgbClr val="2F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99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signed off in IMC — 100% toggle, 95%+ block coverage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39896"/>
            <a:ext cx="201168" cy="201168"/>
          </a:xfrm>
          <a:prstGeom prst="ellipse">
            <a:avLst/>
          </a:prstGeom>
          <a:solidFill>
            <a:srgbClr val="2F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210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in Genus — 54-cell netlist, timing constraint met (+6434 ps slack)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361688"/>
            <a:ext cx="201168" cy="201168"/>
          </a:xfrm>
          <a:prstGeom prst="ellipse">
            <a:avLst/>
          </a:prstGeom>
          <a:solidFill>
            <a:srgbClr val="2FA6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24281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verified in Conformal — RTL ≡ netlist across all 6 outputs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0515600" cy="0"/>
          </a:xfrm>
          <a:prstGeom prst="line">
            <a:avLst/>
          </a:prstGeom>
          <a:noFill/>
          <a:ln w="12700">
            <a:solidFill>
              <a:srgbClr val="3E4A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physical design (place &amp; route) in Innovus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Cadence Xcelium • SimVision • IMC • Genus • Conformal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2026-09-26T04:21:47Z</dcterms:created>
  <dcterms:modified xsi:type="dcterms:W3CDTF">2026-09-26T04:21:47Z</dcterms:modified>
</cp:coreProperties>
</file>